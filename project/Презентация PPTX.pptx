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18"/>
  </p:handout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7" r:id="rId13"/>
    <p:sldId id="265" r:id="rId14"/>
    <p:sldId id="269" r:id="rId15"/>
    <p:sldId id="270" r:id="rId16"/>
    <p:sldId id="271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6710045" y="4601210"/>
            <a:ext cx="5481955" cy="1773555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3600" b="1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Предсказание высоты снежного покрова в Шерегеше для фрирайда</a:t>
            </a:r>
            <a:endParaRPr lang="en-US" altLang="zh-CN" sz="3600" b="1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1430655" y="5949315"/>
            <a:ext cx="2482850" cy="909320"/>
          </a:xfrm>
          <a:prstGeom prst="rect">
            <a:avLst/>
          </a:prstGeom>
        </p:spPr>
        <p:txBody>
          <a:bodyPr>
            <a:noAutofit/>
          </a:bodyPr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Авдеенко Марьяна </a:t>
            </a:r>
            <a:endParaRPr lang="en-US" altLang="zh-CN" sz="16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Бурыкина Софья </a:t>
            </a:r>
            <a:endParaRPr lang="en-US" altLang="zh-CN" sz="16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en-US" altLang="zh-CN" sz="16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Гольцова Мария</a:t>
            </a:r>
            <a:endParaRPr lang="en-US" altLang="zh-CN" sz="16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48335" y="258445"/>
            <a:ext cx="10604500" cy="6015990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ru-RU" altLang="en-US" sz="2800" b="1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Введение</a:t>
            </a:r>
            <a:endParaRPr lang="en-US" altLang="zh-CN" sz="2800" b="1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endParaRPr lang="en-US" altLang="zh-CN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endParaRPr lang="en-US" altLang="zh-CN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en-US" altLang="zh-CN" sz="2400" b="1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Актуальность:</a:t>
            </a:r>
            <a:r>
              <a:rPr lang="en-US" altLang="zh-CN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 </a:t>
            </a:r>
            <a:r>
              <a:rPr lang="ru-RU" altLang="en-US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в начале зимнего сезона этот вопрос особенно актуален для любителей фрирайда, прогноз на будущее позволит спланировать отпуск, например.</a:t>
            </a:r>
            <a:endParaRPr lang="en-US" altLang="zh-CN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endParaRPr lang="en-US" altLang="zh-CN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en-US" altLang="zh-CN" sz="2400" b="1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Цель:</a:t>
            </a:r>
            <a:r>
              <a:rPr lang="en-US" altLang="zh-CN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 </a:t>
            </a:r>
            <a:r>
              <a:rPr lang="ru-RU" altLang="zh-CN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сделать предсказание высоты снежного покрова на ближайший месяц.</a:t>
            </a:r>
            <a:endParaRPr lang="en-US" altLang="zh-CN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endParaRPr lang="en-US" altLang="zh-CN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en-US" altLang="zh-CN" sz="2400" b="1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Задачи:</a:t>
            </a:r>
            <a:r>
              <a:rPr lang="en-US" altLang="zh-CN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 </a:t>
            </a:r>
            <a:endParaRPr lang="en-US" altLang="zh-CN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en-US" altLang="zh-CN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- </a:t>
            </a:r>
            <a:r>
              <a:rPr lang="ru-RU" altLang="en-US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найти данные с ближайшей к Шерегешу метеостанции;</a:t>
            </a:r>
            <a:endParaRPr lang="ru-RU" altLang="en-US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ru-RU" altLang="en-US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- проанализировать данные и преобразовать их при необходимости;</a:t>
            </a:r>
            <a:endParaRPr lang="ru-RU" altLang="en-US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ru-RU" altLang="en-US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- рассмотреть несколько варинтов моделей, выбрать лучший;</a:t>
            </a:r>
            <a:endParaRPr lang="ru-RU" altLang="en-US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  <a:p>
            <a:pPr marL="0" indent="0" algn="l"/>
            <a:r>
              <a:rPr lang="ru-RU" altLang="en-US" sz="2400" b="0" i="0">
                <a:solidFill>
                  <a:srgbClr val="000000"/>
                </a:solidFill>
                <a:latin typeface="Bad Script" panose="02000000000000000000" charset="0"/>
                <a:ea typeface="-apple-system"/>
                <a:cs typeface="Bad Script" panose="02000000000000000000" charset="0"/>
              </a:rPr>
              <a:t>- сделать предсказание на выбранной модельке.</a:t>
            </a:r>
            <a:endParaRPr lang="ru-RU" altLang="en-US" sz="2400" b="0" i="0">
              <a:solidFill>
                <a:srgbClr val="000000"/>
              </a:solidFill>
              <a:latin typeface="Bad Script" panose="02000000000000000000" charset="0"/>
              <a:ea typeface="-apple-system"/>
              <a:cs typeface="Bad Script" panose="0200000000000000000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1090" y="258445"/>
            <a:ext cx="10062210" cy="1203325"/>
          </a:xfrm>
        </p:spPr>
        <p:txBody>
          <a:bodyPr/>
          <a:p>
            <a:r>
              <a:rPr lang="ru-RU" altLang="ru-RU">
                <a:latin typeface="Bad Script" panose="02000000000000000000" charset="0"/>
                <a:cs typeface="Bad Script" panose="02000000000000000000" charset="0"/>
              </a:rPr>
              <a:t>Что представляют данные?</a:t>
            </a:r>
            <a:endParaRPr lang="ru-RU" altLang="ru-RU"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0665" y="2099310"/>
            <a:ext cx="7631430" cy="4163695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600710" y="1461770"/>
            <a:ext cx="8035290" cy="213614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Это таблица из 24067 строк и 14 столбцов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165465" y="149860"/>
            <a:ext cx="3850640" cy="670877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date - </a:t>
            </a:r>
            <a:r>
              <a:rPr lang="ru-RU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дата и время</a:t>
            </a:r>
            <a:endParaRPr lang="ru-RU" altLang="en-US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T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температура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Po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атм. давление на уровне станции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P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атм. давление, приведённое к среднему уровню моря 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U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относительная влажность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Ff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скорость ветра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N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облачность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Tn -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 минимальная температура за последние 12 часов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Tx -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 максимальная температура за последние 12 часов 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H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высота основания самых низких облаков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VV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горизонтальная видимость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Td -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 температура точки росы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RRR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количество выпавших осадков</a:t>
            </a:r>
            <a:endParaRPr lang="en-US" altLang="zh-CN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sss - </a:t>
            </a:r>
            <a:r>
              <a:rPr lang="ru-RU" altLang="en-US" b="0" i="0">
                <a:solidFill>
                  <a:srgbClr val="000000"/>
                </a:solidFill>
                <a:latin typeface="Bad Script" panose="02000000000000000000" charset="0"/>
                <a:ea typeface="Roboto"/>
                <a:cs typeface="Bad Script" panose="02000000000000000000" charset="0"/>
              </a:rPr>
              <a:t>высота снежного покрова</a:t>
            </a:r>
            <a:endParaRPr lang="ru-RU" altLang="en-US" b="0" i="0">
              <a:solidFill>
                <a:srgbClr val="000000"/>
              </a:solidFill>
              <a:latin typeface="Bad Script" panose="02000000000000000000" charset="0"/>
              <a:ea typeface="Roboto"/>
              <a:cs typeface="Bad Script" panose="0200000000000000000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97790"/>
            <a:ext cx="10515600" cy="1114425"/>
          </a:xfrm>
        </p:spPr>
        <p:txBody>
          <a:bodyPr/>
          <a:p>
            <a:pPr algn="ctr"/>
            <a:r>
              <a:rPr lang="ru-RU" altLang="en-US">
                <a:latin typeface="Bad Script" panose="02000000000000000000" charset="0"/>
                <a:cs typeface="Bad Script" panose="02000000000000000000" charset="0"/>
              </a:rPr>
              <a:t>План работы</a:t>
            </a:r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36245" y="1060450"/>
            <a:ext cx="11625580" cy="5598160"/>
          </a:xfrm>
        </p:spPr>
        <p:txBody>
          <a:bodyPr/>
          <a:p>
            <a:r>
              <a:rPr lang="ru-RU" altLang="en-US">
                <a:latin typeface="Bad Script" panose="02000000000000000000" charset="0"/>
                <a:cs typeface="Bad Script" panose="02000000000000000000" charset="0"/>
              </a:rPr>
              <a:t>- Что делать с категориальными признаками?</a:t>
            </a:r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r>
              <a:rPr lang="ru-RU" altLang="en-US">
                <a:latin typeface="Bad Script" panose="02000000000000000000" charset="0"/>
                <a:cs typeface="Bad Script" panose="02000000000000000000" charset="0"/>
              </a:rPr>
              <a:t>                        - Что делать с пропусками в признаках?</a:t>
            </a:r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r>
              <a:rPr lang="ru-RU" altLang="en-US">
                <a:latin typeface="Bad Script" panose="02000000000000000000" charset="0"/>
                <a:cs typeface="Bad Script" panose="02000000000000000000" charset="0"/>
              </a:rPr>
              <a:t>                        - Что делать с теми данными, которые собираются </a:t>
            </a:r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r>
              <a:rPr lang="ru-RU" altLang="en-US">
                <a:latin typeface="Bad Script" panose="02000000000000000000" charset="0"/>
                <a:cs typeface="Bad Script" panose="02000000000000000000" charset="0"/>
              </a:rPr>
              <a:t>                     раз в день, с теми, которые собиратся несколько раз в день? </a:t>
            </a:r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  <a:p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" y="1673225"/>
            <a:ext cx="7186295" cy="116903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120" y="675005"/>
            <a:ext cx="1936115" cy="365506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" y="3656965"/>
            <a:ext cx="3314065" cy="3001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5884545" cy="5066665"/>
          </a:xfrm>
        </p:spPr>
        <p:txBody>
          <a:bodyPr>
            <a:normAutofit/>
          </a:bodyPr>
          <a:p>
            <a:pPr marL="0" indent="0">
              <a:buFont typeface="Arial" panose="020B0604020202020204" pitchFamily="34" charset="0"/>
            </a:pP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Выводы по матрице корреляции:</a:t>
            </a:r>
            <a:b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</a:br>
            <a:b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</a:br>
            <a:b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</a:b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- </a:t>
            </a:r>
            <a:r>
              <a:rPr lang="en-US" altLang="ru-RU" sz="2665" b="0">
                <a:latin typeface="Bad Script" panose="02000000000000000000" charset="0"/>
                <a:cs typeface="Bad Script" panose="02000000000000000000" charset="0"/>
              </a:rPr>
              <a:t>T, Tn, Tx, Td (</a:t>
            </a:r>
            <a:r>
              <a:rPr lang="ru-RU" altLang="ru-RU" sz="2665" b="0">
                <a:latin typeface="Bad Script" panose="02000000000000000000" charset="0"/>
                <a:cs typeface="Bad Script" panose="02000000000000000000" charset="0"/>
              </a:rPr>
              <a:t>разные виды температур</a:t>
            </a:r>
            <a:r>
              <a:rPr lang="en-US" altLang="ru-RU" sz="2665" b="0">
                <a:latin typeface="Bad Script" panose="02000000000000000000" charset="0"/>
                <a:cs typeface="Bad Script" panose="02000000000000000000" charset="0"/>
              </a:rPr>
              <a:t>)</a:t>
            </a: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 коррелируют друг с другом.</a:t>
            </a:r>
            <a:b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</a:br>
            <a:b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</a:b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- </a:t>
            </a:r>
            <a:r>
              <a:rPr lang="en-US" altLang="en-US" sz="2665" b="0">
                <a:latin typeface="Bad Script" panose="02000000000000000000" charset="0"/>
                <a:cs typeface="Bad Script" panose="02000000000000000000" charset="0"/>
              </a:rPr>
              <a:t>N</a:t>
            </a: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 очень слабо влияет на целевую переменную.</a:t>
            </a:r>
            <a:b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</a:br>
            <a:b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</a:b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- </a:t>
            </a:r>
            <a:r>
              <a:rPr lang="en-US" altLang="en-US" sz="2665" b="0">
                <a:latin typeface="Bad Script" panose="02000000000000000000" charset="0"/>
                <a:cs typeface="Bad Script" panose="02000000000000000000" charset="0"/>
              </a:rPr>
              <a:t>Po, P (</a:t>
            </a: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разные виды давлений</a:t>
            </a:r>
            <a:r>
              <a:rPr lang="en-US" altLang="en-US" sz="2665" b="0">
                <a:latin typeface="Bad Script" panose="02000000000000000000" charset="0"/>
                <a:cs typeface="Bad Script" panose="02000000000000000000" charset="0"/>
              </a:rPr>
              <a:t>)</a:t>
            </a:r>
            <a:r>
              <a:rPr lang="ru-RU" altLang="en-US" sz="2665" b="0">
                <a:latin typeface="Bad Script" panose="02000000000000000000" charset="0"/>
                <a:cs typeface="Bad Script" panose="02000000000000000000" charset="0"/>
              </a:rPr>
              <a:t> также сильно коррелируют друг с другом.</a:t>
            </a:r>
            <a:endParaRPr lang="ru-RU" altLang="en-US" sz="2665" b="0"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08775" y="351790"/>
            <a:ext cx="5138420" cy="4972685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5735955"/>
            <a:ext cx="6739255" cy="539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9490" y="723900"/>
            <a:ext cx="10364470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7265" y="258445"/>
            <a:ext cx="10672445" cy="1316355"/>
          </a:xfrm>
        </p:spPr>
        <p:txBody>
          <a:bodyPr>
            <a:normAutofit/>
          </a:bodyPr>
          <a:p>
            <a:r>
              <a:rPr lang="ru-RU" altLang="en-US" sz="2400" b="0">
                <a:latin typeface="Bad Script" panose="02000000000000000000" charset="0"/>
                <a:cs typeface="Bad Script" panose="02000000000000000000" charset="0"/>
              </a:rPr>
              <a:t>Переобозначаем месяцы для того, чтобы зимние влияли на модель сильнее, чем летние.</a:t>
            </a:r>
            <a:endParaRPr lang="ru-RU" altLang="en-US" sz="2400" b="0"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94180" y="1920240"/>
            <a:ext cx="821436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09675" y="258445"/>
            <a:ext cx="10982960" cy="2306320"/>
          </a:xfrm>
        </p:spPr>
        <p:txBody>
          <a:bodyPr>
            <a:normAutofit/>
          </a:bodyPr>
          <a:p>
            <a:pPr marL="0" indent="0">
              <a:lnSpc>
                <a:spcPct val="140000"/>
              </a:lnSpc>
            </a:pPr>
            <a:br>
              <a:rPr lang="en-US" altLang="ru-RU" sz="2220" b="0"/>
            </a:br>
            <a:r>
              <a:rPr lang="ru-RU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-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Во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временных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рядах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текущее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значение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часто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зависит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от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предыдущих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значений</a:t>
            </a:r>
            <a:r>
              <a:rPr lang="ru-RU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</a:t>
            </a:r>
            <a:b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</a:br>
            <a:r>
              <a:rPr lang="ru-RU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- Вводим лаговые признаки - предыдущие значения целевой переменной.</a:t>
            </a:r>
            <a:br>
              <a:rPr lang="en-US" altLang="en-US">
                <a:solidFill>
                  <a:schemeClr val="tx1"/>
                </a:solidFill>
              </a:rPr>
            </a:br>
            <a:r>
              <a:rPr lang="ru-RU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- 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range(1, 50)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означает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,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что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мы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рассматриваем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зависимость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от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последних</a:t>
            </a:r>
            <a:r>
              <a:rPr lang="en-US" altLang="ru-RU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49 </a:t>
            </a:r>
            <a:r>
              <a:rPr lang="en-US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дней</a:t>
            </a:r>
            <a:r>
              <a:rPr lang="ru-RU" altLang="en-US" sz="2220" b="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</a:t>
            </a:r>
            <a:endParaRPr lang="ru-RU" altLang="en-US" sz="2220" b="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3265" y="3079750"/>
            <a:ext cx="10515600" cy="3493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32170" y="1315085"/>
            <a:ext cx="5953760" cy="389382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191135" y="333375"/>
            <a:ext cx="5826760" cy="6524625"/>
          </a:xfrm>
          <a:prstGeom prst="rect">
            <a:avLst/>
          </a:prstGeom>
        </p:spPr>
        <p:txBody>
          <a:bodyPr>
            <a:noAutofit/>
          </a:bodyPr>
          <a:p>
            <a:pPr inden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zh-CN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Тестовая выборка берется как последние 30 наблюдений</a:t>
            </a: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М</a:t>
            </a:r>
            <a:r>
              <a:rPr lang="en-US" altLang="zh-CN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ежду выборками нет пересечений по времени</a:t>
            </a: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Используется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MinMaxScaler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для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нормализации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признаков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диапазон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[0, 1]</a:t>
            </a: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Для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обучающих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данных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используется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fit_transform() (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вычисляет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параметры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применяет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)</a:t>
            </a: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ru-RU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Для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валидационных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тестовых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-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только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transform() (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применяет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вычисленные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параметры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)</a:t>
            </a: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ru-RU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sss -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целевая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переменная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для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прогнозирования</a:t>
            </a: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, в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се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остальные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колонки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используются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как</a:t>
            </a:r>
            <a:r>
              <a:rPr lang="en-US" altLang="ru-RU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признаки</a:t>
            </a:r>
            <a:r>
              <a:rPr lang="ru-RU" altLang="en-US" sz="2000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sz="20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6933565" y="0"/>
            <a:ext cx="5259070" cy="281813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en-US" sz="1600" b="0" i="0">
              <a:solidFill>
                <a:srgbClr val="0F1115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5349240" y="173990"/>
            <a:ext cx="6842125" cy="6470015"/>
          </a:xfrm>
        </p:spPr>
        <p:txBody>
          <a:bodyPr>
            <a:noAutofit/>
          </a:bodyPr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Ridge-регрессия добавляет штраф за большие коэффициенты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(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L2-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регуляризация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).</a:t>
            </a:r>
            <a:r>
              <a:rPr lang="en-US" altLang="zh-CN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Помогает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бороться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с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переобучением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и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мультиколлинеарностью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</a:t>
            </a:r>
            <a:endParaRPr lang="ru-RU" altLang="en-US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7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alpha -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параметр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регуляризации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(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сила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штрафа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)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Используется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логарифмическая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шкала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от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0.001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до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1000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</a:t>
            </a:r>
            <a:endParaRPr lang="en-US" altLang="ru-RU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ru-RU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Используется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TimeSeriesSplit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Это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сохраняет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временной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порядок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данных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Каждый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следующий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фолд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включает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предыдущие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.. </a:t>
            </a:r>
            <a:endParaRPr lang="ru-RU" altLang="en-US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n_splits=5 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-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5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фолдов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для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кросс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-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валидации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</a:t>
            </a:r>
            <a:endParaRPr lang="en-US" altLang="en-US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en-US" sz="17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GridSearchCV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выполняет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полный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перебор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по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сетке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параметров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Используется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метрика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R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²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для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оценки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качества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</a:t>
            </a:r>
            <a:endParaRPr lang="en-US" altLang="ru-RU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ru-RU" sz="17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Устанавливаются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найденные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оптимальные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параметры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Модель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обучается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на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всей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обучающей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выборке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Делаются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предсказания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на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валидационной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выборке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</a:t>
            </a:r>
            <a:endParaRPr lang="en-US" altLang="en-US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ru-RU" sz="17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R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²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(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коэффициент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детерминации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) -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чем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ближе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к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1,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тем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лучше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</a:t>
            </a:r>
            <a:endParaRPr lang="en-US" altLang="en-US" sz="170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  <a:sym typeface="+mn-ea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ru-RU" sz="17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MAPE (Mean Absolute Percentage Error) -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средняя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абсолютная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процентная</a:t>
            </a:r>
            <a:r>
              <a:rPr lang="en-US" altLang="ru-RU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 </a:t>
            </a:r>
            <a:r>
              <a:rPr lang="en-US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ошибка</a:t>
            </a:r>
            <a:r>
              <a:rPr lang="ru-RU" altLang="en-US" sz="170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  <a:sym typeface="+mn-ea"/>
              </a:rPr>
              <a:t>.</a:t>
            </a:r>
            <a:endParaRPr lang="en-US" altLang="en-US" sz="17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endParaRPr lang="en-US" altLang="en-US" sz="1700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" y="1488440"/>
            <a:ext cx="5429250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647700" y="-1491615"/>
            <a:ext cx="10515600" cy="1750060"/>
          </a:xfrm>
        </p:spPr>
        <p:txBody>
          <a:bodyPr/>
          <a:p>
            <a:endParaRPr lang="ru-RU" altLang="en-US"/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02655" y="925830"/>
            <a:ext cx="5525770" cy="4351655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320040" y="782955"/>
            <a:ext cx="5683250" cy="618490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tx1"/>
                </a:solidFill>
                <a:latin typeface="Bad Script" panose="02000000000000000000" charset="0"/>
                <a:ea typeface="Menlo"/>
                <a:cs typeface="Bad Script" panose="02000000000000000000" charset="0"/>
              </a:rPr>
              <a:t>n_estimators</a:t>
            </a:r>
            <a:r>
              <a:rPr lang="en-US" altLang="zh-CN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 - количество деревьев в лесу (100, 300, 500)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0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zh-CN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b="0" i="0">
                <a:solidFill>
                  <a:schemeClr val="tx1"/>
                </a:solidFill>
                <a:latin typeface="Bad Script" panose="02000000000000000000" charset="0"/>
                <a:ea typeface="Menlo"/>
                <a:cs typeface="Bad Script" panose="02000000000000000000" charset="0"/>
              </a:rPr>
              <a:t>max_depth</a:t>
            </a:r>
            <a:r>
              <a:rPr lang="en-US" altLang="zh-CN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 - максимальная глубина деревьев (5, 10, 15)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en-US" altLang="zh-CN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ru-RU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Random Forest -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ансамблевая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модель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на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основе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решающих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деревьев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Устойчива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к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выбросам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,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может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моделировать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нелинейные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зависимости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 </a:t>
            </a:r>
            <a:endParaRPr lang="en-US" altLang="ru-RU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ru-RU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Используется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TimeSeriesSplit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для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сохранения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временной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структуры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en-US" altLang="en-US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endParaRPr lang="en-US" altLang="ru-RU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Поиск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по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сетке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с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использованием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R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²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качестве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метрики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 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GridSearchCV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тестирует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все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9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комбинаций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параметров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Устанавливаются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лучшие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найденные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параметры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Модель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переобучается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на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всей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обучающей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выборке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Стандартные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метрики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для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регрессии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: MAPE 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и</a:t>
            </a:r>
            <a:r>
              <a:rPr lang="en-US" altLang="ru-RU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 R</a:t>
            </a:r>
            <a:r>
              <a:rPr lang="en-US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²</a:t>
            </a:r>
            <a:r>
              <a:rPr lang="ru-RU" altLang="en-US" b="0" i="0">
                <a:solidFill>
                  <a:schemeClr val="tx1"/>
                </a:solidFill>
                <a:latin typeface="Bad Script" panose="02000000000000000000" charset="0"/>
                <a:ea typeface="quote-cjk-patch"/>
                <a:cs typeface="Bad Script" panose="02000000000000000000" charset="0"/>
              </a:rPr>
              <a:t>.</a:t>
            </a:r>
            <a:endParaRPr lang="ru-RU" altLang="en-US" b="0" i="0">
              <a:solidFill>
                <a:schemeClr val="tx1"/>
              </a:solidFill>
              <a:latin typeface="Bad Script" panose="02000000000000000000" charset="0"/>
              <a:ea typeface="quote-cjk-patch"/>
              <a:cs typeface="Bad Script" panose="02000000000000000000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243955" y="649605"/>
            <a:ext cx="6052820" cy="6036945"/>
          </a:xfrm>
        </p:spPr>
        <p:txBody>
          <a:bodyPr>
            <a:normAutofit fontScale="25000"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n_estimators: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количество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деревьев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endParaRPr lang="en-US" altLang="ru-RU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pPr>
              <a:buFont typeface="Arial" panose="020B0604020202020204" pitchFamily="34" charset="0"/>
            </a:pP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max_depth: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глубина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деревьев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endParaRPr lang="en-US" altLang="ru-RU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learning_rate: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скорость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обучения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endParaRPr lang="en-US" altLang="en-US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GradientBoosting 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оследовательно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обуч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ает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деревь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,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исправляя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ошибки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предыдущих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..</a:t>
            </a:r>
            <a:endParaRPr lang="ru-RU" altLang="en-US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endParaRPr lang="en-US" altLang="en-US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Создается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объект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GridSearchCV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для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поиска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по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сетке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параметров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</a:t>
            </a:r>
            <a:endParaRPr lang="ru-RU" altLang="en-US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ru-RU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Выполняется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поиск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оптимальных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гиперпараметров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на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обучающих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данных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Применяются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найденные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оптимальные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параметры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к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модели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</a:t>
            </a:r>
            <a:endParaRPr lang="en-US" altLang="en-US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Модель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заново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обучается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на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всех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обучающих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данных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с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оптимальными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параметрами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Выполняются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предсказания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на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валидационной</a:t>
            </a:r>
            <a:r>
              <a:rPr lang="en-US" altLang="ru-RU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выборке</a:t>
            </a:r>
            <a:r>
              <a:rPr lang="ru-RU" altLang="en-US" sz="7200">
                <a:solidFill>
                  <a:schemeClr val="tx1"/>
                </a:solidFill>
                <a:latin typeface="Bad Script" panose="02000000000000000000" charset="0"/>
                <a:cs typeface="Bad Script" panose="02000000000000000000" charset="0"/>
              </a:rPr>
              <a:t>.</a:t>
            </a:r>
            <a:endParaRPr lang="ru-RU" altLang="en-US" sz="7200">
              <a:solidFill>
                <a:schemeClr val="tx1"/>
              </a:solidFill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" y="1402080"/>
            <a:ext cx="5833745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>
                <a:latin typeface="Bad Script" panose="02000000000000000000" charset="0"/>
                <a:cs typeface="Bad Script" panose="02000000000000000000" charset="0"/>
              </a:rPr>
              <a:t>Что мы выбрали?</a:t>
            </a:r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6" name="Замещающее содержимое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3860" y="1830070"/>
            <a:ext cx="6430645" cy="786130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430" y="3359785"/>
            <a:ext cx="6312535" cy="768350"/>
          </a:xfrm>
          <a:prstGeom prst="rect">
            <a:avLst/>
          </a:prstGeom>
        </p:spPr>
      </p:pic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670" y="4996815"/>
            <a:ext cx="7497445" cy="668655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4489450" y="4579620"/>
            <a:ext cx="6479540" cy="41783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ts val="1140"/>
              </a:lnSpc>
            </a:pPr>
            <a:r>
              <a:rPr lang="en-US" altLang="zh-CN" sz="2000" b="1">
                <a:solidFill>
                  <a:schemeClr val="tx1"/>
                </a:solidFill>
                <a:latin typeface="Bad Script" panose="02000000000000000000" charset="0"/>
                <a:ea typeface="monospace"/>
                <a:cs typeface="Bad Script" panose="02000000000000000000" charset="0"/>
              </a:rPr>
              <a:t>GradientBoosting</a:t>
            </a:r>
            <a:endParaRPr lang="en-US" altLang="zh-CN" sz="2000" b="1">
              <a:solidFill>
                <a:schemeClr val="tx1"/>
              </a:solidFill>
              <a:latin typeface="Bad Script" panose="02000000000000000000" charset="0"/>
              <a:ea typeface="monospace"/>
              <a:cs typeface="Bad Script" panose="02000000000000000000" charset="0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3217545" y="2861945"/>
            <a:ext cx="5418455" cy="68580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140"/>
              </a:lnSpc>
            </a:pPr>
            <a:r>
              <a:rPr lang="en-US" altLang="zh-CN" sz="2000" b="1">
                <a:solidFill>
                  <a:schemeClr val="tx1"/>
                </a:solidFill>
                <a:latin typeface="Bad Script" panose="02000000000000000000" charset="0"/>
                <a:ea typeface="monospace"/>
                <a:cs typeface="Bad Script" panose="02000000000000000000" charset="0"/>
              </a:rPr>
              <a:t>RandomForest</a:t>
            </a:r>
            <a:endParaRPr lang="en-US" altLang="zh-CN" sz="2000" b="1">
              <a:solidFill>
                <a:schemeClr val="tx1"/>
              </a:solidFill>
              <a:latin typeface="Bad Script" panose="02000000000000000000" charset="0"/>
              <a:ea typeface="monospace"/>
              <a:cs typeface="Bad Script" panose="02000000000000000000" charset="0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1158240" y="1399540"/>
            <a:ext cx="3669665" cy="43053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1140"/>
              </a:lnSpc>
            </a:pPr>
            <a:r>
              <a:rPr lang="en-US" altLang="zh-CN" sz="2000" b="1">
                <a:solidFill>
                  <a:schemeClr val="tx1"/>
                </a:solidFill>
                <a:latin typeface="Bad Script" panose="02000000000000000000" charset="0"/>
                <a:ea typeface="monospace"/>
                <a:cs typeface="Bad Script" panose="02000000000000000000" charset="0"/>
              </a:rPr>
              <a:t>Линейная регрессия</a:t>
            </a:r>
            <a:endParaRPr lang="en-US" altLang="zh-CN" sz="2000" b="1">
              <a:solidFill>
                <a:schemeClr val="tx1"/>
              </a:solidFill>
              <a:latin typeface="Bad Script" panose="02000000000000000000" charset="0"/>
              <a:ea typeface="monospace"/>
              <a:cs typeface="Bad Script" panose="02000000000000000000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3016885" y="6209030"/>
            <a:ext cx="6127115" cy="7880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2400" b="1">
                <a:latin typeface="Bad Script" panose="02000000000000000000" charset="0"/>
                <a:cs typeface="Bad Script" panose="02000000000000000000" charset="0"/>
              </a:rPr>
              <a:t>Чем</a:t>
            </a:r>
            <a:r>
              <a:rPr lang="en-US" altLang="ru-RU" sz="2400" b="1"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400" b="1">
                <a:latin typeface="Bad Script" panose="02000000000000000000" charset="0"/>
                <a:cs typeface="Bad Script" panose="02000000000000000000" charset="0"/>
              </a:rPr>
              <a:t>проще</a:t>
            </a:r>
            <a:r>
              <a:rPr lang="en-US" altLang="ru-RU" sz="2400" b="1">
                <a:latin typeface="Bad Script" panose="02000000000000000000" charset="0"/>
                <a:cs typeface="Bad Script" panose="02000000000000000000" charset="0"/>
              </a:rPr>
              <a:t>, </a:t>
            </a:r>
            <a:r>
              <a:rPr lang="en-US" altLang="en-US" sz="2400" b="1">
                <a:latin typeface="Bad Script" panose="02000000000000000000" charset="0"/>
                <a:cs typeface="Bad Script" panose="02000000000000000000" charset="0"/>
              </a:rPr>
              <a:t>тем</a:t>
            </a:r>
            <a:r>
              <a:rPr lang="en-US" altLang="ru-RU" sz="2400" b="1">
                <a:latin typeface="Bad Script" panose="02000000000000000000" charset="0"/>
                <a:cs typeface="Bad Script" panose="02000000000000000000" charset="0"/>
              </a:rPr>
              <a:t> </a:t>
            </a:r>
            <a:r>
              <a:rPr lang="en-US" altLang="en-US" sz="2400" b="1">
                <a:latin typeface="Bad Script" panose="02000000000000000000" charset="0"/>
                <a:cs typeface="Bad Script" panose="02000000000000000000" charset="0"/>
              </a:rPr>
              <a:t>лучше</a:t>
            </a:r>
            <a:r>
              <a:rPr lang="en-US" altLang="ru-RU" sz="2400" b="1">
                <a:latin typeface="Bad Script" panose="02000000000000000000" charset="0"/>
                <a:cs typeface="Bad Script" panose="02000000000000000000" charset="0"/>
              </a:rPr>
              <a:t>!</a:t>
            </a:r>
            <a:endParaRPr lang="ru-RU" altLang="en-US" sz="2400" b="1">
              <a:latin typeface="Bad Script" panose="02000000000000000000" charset="0"/>
              <a:cs typeface="Bad Script" panose="02000000000000000000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Bad Script" panose="02000000000000000000" charset="0"/>
                <a:cs typeface="Bad Script" panose="02000000000000000000" charset="0"/>
              </a:rPr>
              <a:t>             Итог</a:t>
            </a:r>
            <a:endParaRPr lang="ru-RU" altLang="en-US">
              <a:latin typeface="Bad Script" panose="02000000000000000000" charset="0"/>
              <a:cs typeface="Bad Script" panose="02000000000000000000" charset="0"/>
            </a:endParaRPr>
          </a:p>
        </p:txBody>
      </p:sp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860" y="1711325"/>
            <a:ext cx="9432925" cy="368681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85" y="388620"/>
            <a:ext cx="1911350" cy="6017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4182</Words>
  <Application>WPS Presentation</Application>
  <PresentationFormat>宽屏</PresentationFormat>
  <Paragraphs>123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SimSun</vt:lpstr>
      <vt:lpstr>Wingdings</vt:lpstr>
      <vt:lpstr>Calibri Light</vt:lpstr>
      <vt:lpstr>Bad Script</vt:lpstr>
      <vt:lpstr>-apple-system</vt:lpstr>
      <vt:lpstr>Segoe Print</vt:lpstr>
      <vt:lpstr>Roboto</vt:lpstr>
      <vt:lpstr>Times New Roman</vt:lpstr>
      <vt:lpstr>quote-cjk-patch</vt:lpstr>
      <vt:lpstr>Arial</vt:lpstr>
      <vt:lpstr>Menlo</vt:lpstr>
      <vt:lpstr>monospace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Что представляют данные?</vt:lpstr>
      <vt:lpstr>План работы</vt:lpstr>
      <vt:lpstr>Выводы по матрице корреляции:   - T, Tn, Tx, Td (разные виды температур) коррелируют друг с другом.  - N очень слабо влияет на целевую переменную.  - Po, P (разные виды давлений) также сильно коррелируют друг с другом.</vt:lpstr>
      <vt:lpstr>PowerPoint 演示文稿</vt:lpstr>
      <vt:lpstr>Переобозначаем месяцы для того, чтобы зимние влияли на модель сильнее, чем летние.</vt:lpstr>
      <vt:lpstr> - Во временных рядах текущее значение часто зависит от предыдущих значений. - Вводим лаговые признаки - предыдущие значения целевой переменной. - range(1, 50) означает, что мы рассматриваем зависимость от последних 49 дней.</vt:lpstr>
      <vt:lpstr>PowerPoint 演示文稿</vt:lpstr>
      <vt:lpstr>PowerPoint 演示文稿</vt:lpstr>
      <vt:lpstr>PowerPoint 演示文稿</vt:lpstr>
      <vt:lpstr>PowerPoint 演示文稿</vt:lpstr>
      <vt:lpstr>Что мы выбрали?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golts</cp:lastModifiedBy>
  <cp:revision>15</cp:revision>
  <dcterms:created xsi:type="dcterms:W3CDTF">2025-07-23T00:59:00Z</dcterms:created>
  <dcterms:modified xsi:type="dcterms:W3CDTF">2025-12-27T12:28:12Z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E9570D2E314C4FE9B5D2497FAA2293AB_13</vt:lpwstr>
  </property>
</Properties>
</file>